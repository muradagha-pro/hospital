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58"/>
  </p:normalViewPr>
  <p:slideViewPr>
    <p:cSldViewPr snapToGrid="0" snapToObjects="1">
      <p:cViewPr>
        <p:scale>
          <a:sx n="93" d="100"/>
          <a:sy n="93" d="100"/>
        </p:scale>
        <p:origin x="1632" y="7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228600"/>
            <a:ext cx="1143000" cy="11636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عرض نظام مشفى الحوراني الرقمي</a:t>
            </a:r>
          </a:p>
          <a:p>
            <a:pPr algn="r"/>
            <a:r>
              <a:rPr sz="1800" b="0">
                <a:solidFill>
                  <a:srgbClr val="6C7A78"/>
                </a:solidFill>
                <a:latin typeface="Arial"/>
              </a:rPr>
              <a:t>منصة موحدة لاستدعاء التمريض وإدارة الكافتيريا والتحليلات الإدارية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2286000"/>
            <a:ext cx="9326880" cy="1188720"/>
          </a:xfrm>
          <a:prstGeom prst="roundRect">
            <a:avLst/>
          </a:prstGeom>
          <a:solidFill>
            <a:srgbClr val="2E6E67"/>
          </a:solidFill>
          <a:ln>
            <a:solidFill>
              <a:srgbClr val="2E6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جاهز للتشغيل في بيئة المستشفى مع دعم التوسع المرحلي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840480"/>
            <a:ext cx="9509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 b="0">
                <a:solidFill>
                  <a:srgbClr val="1F2E2C"/>
                </a:solidFill>
                <a:latin typeface="Arial"/>
              </a:rPr>
              <a:t>الفئة المستهدفة: الإدارة العليا ومدراء التشغيل والجودة</a:t>
            </a:r>
          </a:p>
          <a:p>
            <a:pPr algn="r"/>
            <a:r>
              <a:rPr sz="2000" b="0">
                <a:solidFill>
                  <a:srgbClr val="1F2E2C"/>
                </a:solidFill>
                <a:latin typeface="Arial"/>
              </a:rPr>
              <a:t>الهدف: تسريع الاستجابة للمرضى ورفع كفاءة المتابعة واتخاذ القرار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لماذا هذا النظام؟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41157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dirty="0" err="1">
                <a:solidFill>
                  <a:srgbClr val="2E6E67"/>
                </a:solidFill>
                <a:latin typeface="Arial"/>
              </a:rPr>
              <a:t>التحديات</a:t>
            </a:r>
            <a:r>
              <a:rPr sz="2200" b="1" dirty="0">
                <a:solidFill>
                  <a:srgbClr val="2E6E67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2E6E67"/>
                </a:solidFill>
                <a:latin typeface="Arial"/>
              </a:rPr>
              <a:t>التي</a:t>
            </a:r>
            <a:r>
              <a:rPr sz="2200" b="1" dirty="0">
                <a:solidFill>
                  <a:srgbClr val="2E6E67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2E6E67"/>
                </a:solidFill>
                <a:latin typeface="Arial"/>
              </a:rPr>
              <a:t>يعالجها</a:t>
            </a:r>
            <a:endParaRPr sz="2200" b="1" dirty="0">
              <a:solidFill>
                <a:srgbClr val="2E6E67"/>
              </a:solidFill>
              <a:latin typeface="Arial"/>
            </a:endParaRP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تقليل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تأخر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استجابة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التمريض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للحالات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غير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الطارئة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إلغاء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الاعتماد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على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النداء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الشفهي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أو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التنسيق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اليدوي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تتبع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لحظي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لحالة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كل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طلب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من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الإرسال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حتى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الإغلاق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تجميع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البيانات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التشغيلية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في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لوحة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واضحة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للإدارة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8192" y="2063127"/>
            <a:ext cx="3493873" cy="3312059"/>
          </a:xfrm>
          <a:prstGeom prst="roundRect">
            <a:avLst/>
          </a:prstGeom>
          <a:solidFill>
            <a:srgbClr val="EAF2E9"/>
          </a:solidFill>
          <a:ln w="15240">
            <a:solidFill>
              <a:srgbClr val="2E6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81" y="2246840"/>
            <a:ext cx="2968093" cy="30216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نظرة عامة على المكونات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E6E67"/>
                </a:solidFill>
                <a:latin typeface="Arial"/>
              </a:rPr>
              <a:t>الواجهات الرئيسية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واجهة المريض: استدعاء ممرضة + متابعة الحالة + إرسال اقتراح/شكوى.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واجهة الممرضة: استقبال الطلبات، الاستلام، الإنهاء، وتوثيق الملاحظات.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لوحة الإدارة: مؤشرات الأداء، متوسطات الاستجابة، وملاحظات التمريض.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نظام الكافتيريا: طلبات المرضى + إدارة المنتجات + تتبع التسليم.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رحلة المريض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E6E67"/>
                </a:solidFill>
                <a:latin typeface="Arial"/>
              </a:rPr>
              <a:t>خطوات الاستخدام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المريض يمسح QR الغرفة ويفتح صفحة الخدمة مباشرة.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زر استدعاء واضح يرسل الطلب فوريا للقسم المختص.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المريض يرى حالة الطلب: مرسل / مستلم / مكتمل.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يمكنه إرسال شكوى أو اقتراح للإدارة من نفس الرحلة.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9CC90F-906F-675F-B719-90DC79E72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476" y="1737360"/>
            <a:ext cx="3541447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رحلة التمريض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600200"/>
            <a:ext cx="10881360" cy="4617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182880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dirty="0" err="1">
                <a:solidFill>
                  <a:srgbClr val="2E6E67"/>
                </a:solidFill>
                <a:latin typeface="Arial"/>
              </a:rPr>
              <a:t>آلية</a:t>
            </a:r>
            <a:r>
              <a:rPr sz="2200" b="1" dirty="0">
                <a:solidFill>
                  <a:srgbClr val="2E6E67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2E6E67"/>
                </a:solidFill>
                <a:latin typeface="Arial"/>
              </a:rPr>
              <a:t>العمل</a:t>
            </a:r>
            <a:r>
              <a:rPr sz="2200" b="1" dirty="0">
                <a:solidFill>
                  <a:srgbClr val="2E6E67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2E6E67"/>
                </a:solidFill>
                <a:latin typeface="Arial"/>
              </a:rPr>
              <a:t>اليومية</a:t>
            </a:r>
            <a:endParaRPr sz="2200" b="1" dirty="0">
              <a:solidFill>
                <a:srgbClr val="2E6E67"/>
              </a:solidFill>
              <a:latin typeface="Arial"/>
            </a:endParaRP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كل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ممرضة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تدخل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من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رابط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القسم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الخاص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بها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وتستقبل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الحالات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الفعلية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فقط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تنبيهات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صوتية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واهتزازية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لتقليل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أي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طلب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فائت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إجراءات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مباشرة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: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استلام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الطلب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ثم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إنهاؤه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بعد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تقديم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الخدمة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سجل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يومي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بالملاحظات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يضمن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التوثيق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والمتابعة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والتحسين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C53B4A-086C-FAE7-B8D9-75779DEA03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8" y="3663686"/>
            <a:ext cx="3956375" cy="26456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22151C2-C971-C61D-9E0B-2A6DF21946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342" y="1005840"/>
            <a:ext cx="4316405" cy="24989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لوحة الإدارة والتحليلات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E6E67"/>
                </a:solidFill>
                <a:latin typeface="Arial"/>
              </a:rPr>
              <a:t>ما الذي يهم الإدارة؟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إجمالي الطلبات المنفذة والمعلقة لكل فترة زمنية.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متوسط زمن الاستجابة على مستوى المستشفى ولكل قسم.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عرض مركزي لملاحظات الممرضات وشكاوى المرضى.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دعم قرارات سريعة لتحسين التوزيع والكوادر والجودة.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04D9B1-AFAC-F7FC-D095-72B7D60DB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572" y="1600199"/>
            <a:ext cx="2911646" cy="44348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إدارة الأقسام الفعلية في النظام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965960" y="178308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 dirty="0" err="1">
                <a:solidFill>
                  <a:srgbClr val="2E6E67"/>
                </a:solidFill>
                <a:latin typeface="Arial"/>
              </a:rPr>
              <a:t>البيانات</a:t>
            </a:r>
            <a:r>
              <a:rPr sz="2200" b="1" dirty="0">
                <a:solidFill>
                  <a:srgbClr val="2E6E67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2E6E67"/>
                </a:solidFill>
                <a:latin typeface="Arial"/>
              </a:rPr>
              <a:t>الحالية</a:t>
            </a:r>
            <a:r>
              <a:rPr sz="2200" b="1" dirty="0">
                <a:solidFill>
                  <a:srgbClr val="2E6E67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2E6E67"/>
                </a:solidFill>
                <a:latin typeface="Arial"/>
              </a:rPr>
              <a:t>المعتمدة</a:t>
            </a:r>
            <a:r>
              <a:rPr sz="2200" b="1" dirty="0">
                <a:solidFill>
                  <a:srgbClr val="2E6E67"/>
                </a:solidFill>
                <a:latin typeface="Arial"/>
              </a:rPr>
              <a:t> </a:t>
            </a:r>
            <a:r>
              <a:rPr sz="2200" b="1" dirty="0" err="1">
                <a:solidFill>
                  <a:srgbClr val="2E6E67"/>
                </a:solidFill>
                <a:latin typeface="Arial"/>
              </a:rPr>
              <a:t>للعرض</a:t>
            </a:r>
            <a:endParaRPr sz="2200" b="1" dirty="0">
              <a:solidFill>
                <a:srgbClr val="2E6E67"/>
              </a:solidFill>
              <a:latin typeface="Arial"/>
            </a:endParaRP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النسائية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-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رمز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القسم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: dept-1787470659022 -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الغرف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: 300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إلى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399.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قثطرة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-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رمز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القسم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: dept-1787485105394 -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الغرف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: 200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إلى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299.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الخمسميات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-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رمز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القسم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: dept-1787486243729 -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الغرف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: 500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إلى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599.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 dirty="0">
                <a:solidFill>
                  <a:srgbClr val="1F2E2C"/>
                </a:solidFill>
                <a:latin typeface="Arial"/>
              </a:rPr>
              <a:t>•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النظام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يوجه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كل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غرفة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تلقائيا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إلى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قسمها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دون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تدخل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 </a:t>
            </a:r>
            <a:r>
              <a:rPr sz="2000" b="0" dirty="0" err="1">
                <a:solidFill>
                  <a:srgbClr val="1F2E2C"/>
                </a:solidFill>
                <a:latin typeface="Arial"/>
              </a:rPr>
              <a:t>يدوي</a:t>
            </a:r>
            <a:r>
              <a:rPr sz="2000" b="0" dirty="0">
                <a:solidFill>
                  <a:srgbClr val="1F2E2C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712B07-78B9-E8AF-1B0C-1452D10CC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600200"/>
            <a:ext cx="2427176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نظام الكافتيريا الذكي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E6E67"/>
                </a:solidFill>
                <a:latin typeface="Arial"/>
              </a:rPr>
              <a:t>القيمة التشغيلية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المريض يطلب من نفس التجربة الرقمية دون اتصالات هاتفية.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الكافتيريا تدير حالة الطلب: تم الاستلام / قيد التحضير / تم التسليم.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متابعة شفافة للغرفة مع وقت تقديري وتفاصيل الفاتورة.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تقليل الضغط على التمريض في الطلبات غير الطبية.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513FB2-C110-03E5-E7A5-8323D5624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13661"/>
            <a:ext cx="2564539" cy="4918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الأمن والجاهزية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E6E67"/>
                </a:solidFill>
                <a:latin typeface="Arial"/>
              </a:rPr>
              <a:t>الوضع الحالي والخطوات التالية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النسخة الحالية مناسبة للتجربة التشغيلية الداخلية.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قبل الإطلاق الرسمي: تفعيل تسجيل الدخول لصفحات الإدارة.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تشديد قواعد قاعدة البيانات حسب الصلاحيات والأدوار.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تفعيل سجل تدقيق إداري للتتبع والامتثال.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lhourani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2880"/>
            <a:ext cx="914400" cy="9309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0160" y="64008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400" b="1">
                <a:solidFill>
                  <a:srgbClr val="1E4A46"/>
                </a:solidFill>
                <a:latin typeface="Arial"/>
              </a:rPr>
              <a:t>خطة التنفيذ المقترحة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51560" y="1600200"/>
            <a:ext cx="10058400" cy="443484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4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89611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2E6E67"/>
                </a:solidFill>
                <a:latin typeface="Arial"/>
              </a:rPr>
              <a:t>مراحل اعتماد الإدارة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مرحلة 1: تشغيل تجريبي في الأقسام الثلاثة الحالية لمدة أسبوعين.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مرحلة 2: قياس زمن الاستجابة ورضا المرضى ومعدلات الإغلاق.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مرحلة 3: تعميم تدريجي على بقية الأقسام مع تدريب المستخدمين.</a:t>
            </a:r>
          </a:p>
          <a:p>
            <a:pPr algn="r">
              <a:spcBef>
                <a:spcPts val="400"/>
              </a:spcBef>
              <a:spcAft>
                <a:spcPts val="200"/>
              </a:spcAft>
            </a:pPr>
            <a:r>
              <a:rPr sz="2000" b="0">
                <a:solidFill>
                  <a:srgbClr val="1F2E2C"/>
                </a:solidFill>
                <a:latin typeface="Arial"/>
              </a:rPr>
              <a:t>• مرحلة 4: اعتماد نهائي وربط مؤشرات الجودة بالتقارير الشهرية.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30936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6C7A78"/>
                </a:solidFill>
                <a:latin typeface="Arial"/>
              </a:rPr>
              <a:t>نظام إدارة الاستدعاء والكافتيريا - عرض للإدارة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569</Words>
  <Application>Microsoft Macintosh PowerPoint</Application>
  <PresentationFormat>Widescreen</PresentationFormat>
  <Paragraphs>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Agha, Basel Murad</cp:lastModifiedBy>
  <cp:revision>3</cp:revision>
  <dcterms:created xsi:type="dcterms:W3CDTF">2013-01-27T09:14:16Z</dcterms:created>
  <dcterms:modified xsi:type="dcterms:W3CDTF">2026-08-23T12:59:08Z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ed6534-701e-4052-b9aa-6ed330ffc3a5_Enabled">
    <vt:lpwstr>true</vt:lpwstr>
  </property>
  <property fmtid="{D5CDD505-2E9C-101B-9397-08002B2CF9AE}" pid="3" name="MSIP_Label_68ed6534-701e-4052-b9aa-6ed330ffc3a5_SetDate">
    <vt:lpwstr>2026-08-23T12:40:06Z</vt:lpwstr>
  </property>
  <property fmtid="{D5CDD505-2E9C-101B-9397-08002B2CF9AE}" pid="4" name="MSIP_Label_68ed6534-701e-4052-b9aa-6ed330ffc3a5_Method">
    <vt:lpwstr>Privileged</vt:lpwstr>
  </property>
  <property fmtid="{D5CDD505-2E9C-101B-9397-08002B2CF9AE}" pid="5" name="MSIP_Label_68ed6534-701e-4052-b9aa-6ed330ffc3a5_Name">
    <vt:lpwstr>Åpen</vt:lpwstr>
  </property>
  <property fmtid="{D5CDD505-2E9C-101B-9397-08002B2CF9AE}" pid="6" name="MSIP_Label_68ed6534-701e-4052-b9aa-6ed330ffc3a5_SiteId">
    <vt:lpwstr>c9b0d3b5-c035-4c08-8136-760ae8c28600</vt:lpwstr>
  </property>
  <property fmtid="{D5CDD505-2E9C-101B-9397-08002B2CF9AE}" pid="7" name="MSIP_Label_68ed6534-701e-4052-b9aa-6ed330ffc3a5_ActionId">
    <vt:lpwstr>6a3a2b53-2b06-45a4-8887-6260c78f9b6d</vt:lpwstr>
  </property>
  <property fmtid="{D5CDD505-2E9C-101B-9397-08002B2CF9AE}" pid="8" name="MSIP_Label_68ed6534-701e-4052-b9aa-6ed330ffc3a5_ContentBits">
    <vt:lpwstr>0</vt:lpwstr>
  </property>
  <property fmtid="{D5CDD505-2E9C-101B-9397-08002B2CF9AE}" pid="9" name="MSIP_Label_68ed6534-701e-4052-b9aa-6ed330ffc3a5_Tag">
    <vt:lpwstr>50, 0, 1, 1</vt:lpwstr>
  </property>
</Properties>
</file>